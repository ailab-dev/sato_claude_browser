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383280" cy="457200"/>
          </a:xfrm>
          <a:prstGeom prst="roundRect">
            <a:avLst/>
          </a:prstGeom>
          <a:solidFill>
            <a:srgbClr val="2B5E9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PROPOSAL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FFFFFF"/>
                </a:solidFill>
                <a:latin typeface="Noto Sans JP"/>
              </a:defRPr>
            </a:pPr>
            <a:r>
              <a:t>橋梁点検DXシステム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BED4ED"/>
                </a:solidFill>
                <a:latin typeface="Noto Sans JP"/>
              </a:defRPr>
            </a:pPr>
            <a:r>
              <a:t>AI画像解析 × IoTセンシングによる次世代インフラ点検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4206240"/>
            <a:ext cx="18288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1200"/>
              </a:spcAft>
              <a:defRPr sz="2200" b="1">
                <a:solidFill>
                  <a:srgbClr val="FFFFFF"/>
                </a:solidFill>
                <a:latin typeface="Noto Sans JP"/>
              </a:defRPr>
            </a:pPr>
            <a:r>
              <a:t>フレックスデザイン社 御中</a:t>
            </a:r>
          </a:p>
          <a:p>
            <a:pPr algn="ctr">
              <a:lnSpc>
                <a:spcPts val="1680"/>
              </a:lnSpc>
              <a:spcAft>
                <a:spcPts val="400"/>
              </a:spcAft>
              <a:defRPr sz="1400" b="0">
                <a:solidFill>
                  <a:srgbClr val="BED4ED"/>
                </a:solidFill>
                <a:latin typeface="Noto Sans JP"/>
              </a:defRPr>
            </a:pPr>
            <a:r>
              <a:t>2026年2月26日</a:t>
            </a:r>
          </a:p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BED4ED"/>
                </a:solidFill>
                <a:latin typeface="Noto Sans JP"/>
              </a:defRPr>
            </a:pPr>
            <a:r>
              <a:t>ご提案書（機密）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EDF2F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B6CB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365D"/>
                </a:solidFill>
                <a:latin typeface="Noto Sans JP"/>
              </a:defRPr>
            </a:pPr>
            <a:r>
              <a:t>エグゼクティブサマリー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JP"/>
              </a:defRPr>
            </a:pPr>
            <a:r>
              <a:t>本提案は、フレックスデザイン社が管理・受託する橋梁点検業務において、AI画像解析とIoTセンシング技術を活用した次世代点検DXシステムの導入をご提案するものです。</a:t>
            </a:r>
            <a:br/>
            <a:r>
              <a:t>従来の目視点検に代わり、ドローン撮影画像のAI自動解析とリアルタイムセンサーモニタリングにより、点検品質の向上・コスト削減・安全性の確保を同時に実現します。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E53E3E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718096"/>
                </a:solidFill>
                <a:latin typeface="Noto Sans JP"/>
              </a:defRPr>
            </a:pPr>
            <a:r>
              <a:t>点検コスト削減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7432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971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E53E3E"/>
                </a:solidFill>
                <a:latin typeface="Arial"/>
              </a:defRPr>
            </a:pPr>
            <a:r>
              <a:t>3倍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703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718096"/>
                </a:solidFill>
                <a:latin typeface="Noto Sans JP"/>
              </a:defRPr>
            </a:pPr>
            <a:r>
              <a:t>点検速度向上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E53E3E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718096"/>
                </a:solidFill>
                <a:latin typeface="Noto Sans JP"/>
              </a:defRPr>
            </a:pPr>
            <a:r>
              <a:t>損傷検出精度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7432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971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E53E3E"/>
                </a:solidFill>
                <a:latin typeface="Arial"/>
              </a:defRPr>
            </a:pPr>
            <a: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703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718096"/>
                </a:solidFill>
                <a:latin typeface="Noto Sans JP"/>
              </a:defRPr>
            </a:pPr>
            <a:r>
              <a:t>常時モニタリング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0800" cy="1645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A365D"/>
                </a:solidFill>
                <a:latin typeface="Noto Sans JP"/>
              </a:defRPr>
            </a:pPr>
            <a:r>
              <a:t>伴走型パートナーシップ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7492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200" b="0">
                <a:solidFill>
                  <a:srgbClr val="4A5568"/>
                </a:solidFill>
                <a:latin typeface="Noto Sans JP"/>
              </a:defRPr>
            </a:pPr>
            <a:r>
              <a:t>私たちは単なるシステム導入にとどまらず、フレックスデザイン社の業務フローに深く入り込み、課題発見から運用定着まで「伴走型」で支援いたします。貴社の成長戦略に沿った段階的な展開により、確実な成果創出をお約束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C8181"/>
                </a:solidFill>
                <a:latin typeface="Arial"/>
              </a:defRPr>
            </a:pPr>
            <a:r>
              <a:t>02  Current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現状の課題認識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BED4ED"/>
                </a:solidFill>
                <a:latin typeface="Noto Sans JP"/>
              </a:defRPr>
            </a:pPr>
            <a:r>
              <a:t>国土交通省の定期点検義務化（2014年〜）により、5年に1度の近接目視点検が</a:t>
            </a:r>
            <a:br/>
            <a:r>
              <a:t>全橋梁に求められています。しかし、従来手法には以下の構造的課題が存在します。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74720" cy="146304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1A202C"/>
                </a:solidFill>
                <a:latin typeface="Noto Sans JP"/>
              </a:defRPr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JP"/>
              </a:defRPr>
            </a:pPr>
            <a:r>
              <a:t>時間・人材不足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BED4ED"/>
                </a:solidFill>
                <a:latin typeface="Noto Sans JP"/>
              </a:defRPr>
            </a:pPr>
            <a:r>
              <a:t>熟練点検員の高齢化と後継者不足。全国約73万橋の点検需要に対し、技術者が圧倒的に不足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474720" cy="146304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1A202C"/>
                </a:solidFill>
                <a:latin typeface="Noto Sans JP"/>
              </a:defRPr>
            </a:pPr>
            <a: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JP"/>
              </a:defRPr>
            </a:pPr>
            <a:r>
              <a:t>安全リスク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BED4ED"/>
                </a:solidFill>
                <a:latin typeface="Noto Sans JP"/>
              </a:defRPr>
            </a:pPr>
            <a:r>
              <a:t>高所作業・足場設置に伴う労働災害リスク。河川・交通上のリスクも深刻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474720" cy="146304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1A202C"/>
                </a:solidFill>
                <a:latin typeface="Noto Sans JP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JP"/>
              </a:defRPr>
            </a:pPr>
            <a:r>
              <a:t>品質のばらつき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BED4ED"/>
                </a:solidFill>
                <a:latin typeface="Noto Sans JP"/>
              </a:defRPr>
            </a:pPr>
            <a:r>
              <a:t>点検員の経験・スキルに依存した判定。評価者によって判定区分が異なるケースが散見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40"/>
            <a:ext cx="3474720" cy="146304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1A202C"/>
                </a:solidFill>
                <a:latin typeface="Noto Sans JP"/>
              </a:defRPr>
            </a:pPr>
            <a: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JP"/>
              </a:defRPr>
            </a:pPr>
            <a:r>
              <a:t>コスト増大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BED4ED"/>
                </a:solidFill>
                <a:latin typeface="Noto Sans JP"/>
              </a:defRPr>
            </a:pPr>
            <a:r>
              <a:t>足場設置・交通規制等の付帯コストが点検費用の60%以上を占め、予算を圧迫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49040"/>
            <a:ext cx="3474720" cy="146304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1A202C"/>
                </a:solidFill>
                <a:latin typeface="Noto Sans JP"/>
              </a:defRPr>
            </a:pPr>
            <a:r>
              <a:t>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JP"/>
              </a:defRPr>
            </a:pPr>
            <a:r>
              <a:t>データ管理の非効率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251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BED4ED"/>
                </a:solidFill>
                <a:latin typeface="Noto Sans JP"/>
              </a:defRPr>
            </a:pPr>
            <a:r>
              <a:t>紙ベースの調書作成・管理が主流。過去データとの比較分析が困難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49040"/>
            <a:ext cx="3474720" cy="146304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1A202C"/>
                </a:solidFill>
                <a:latin typeface="Noto Sans JP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JP"/>
              </a:defRPr>
            </a:pPr>
            <a:r>
              <a:t>予防保全への転換遅れ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251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BED4ED"/>
                </a:solidFill>
                <a:latin typeface="Noto Sans JP"/>
              </a:defRPr>
            </a:pPr>
            <a:r>
              <a:t>事後保全型から予防保全型への転換が求められる中、データ基盤が未整備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B6CB0"/>
                </a:solidFill>
                <a:latin typeface="Arial"/>
              </a:defRPr>
            </a:pPr>
            <a:r>
              <a:t>03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365D"/>
                </a:solidFill>
                <a:latin typeface="Noto Sans JP"/>
              </a:defRPr>
            </a:pPr>
            <a:r>
              <a:t>ソリューション概要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JP"/>
              </a:defRPr>
            </a:pPr>
            <a:r>
              <a:t>3つのコア技術を統合した橋梁点検DXプラットフォームにより、点検業務の全工程をデジタル化・自動化します。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50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194560"/>
            <a:ext cx="548640" cy="5486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Noto Sans JP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65D"/>
                </a:solidFill>
                <a:latin typeface="Noto Sans JP"/>
              </a:defRPr>
            </a:pPr>
            <a:r>
              <a:t>AI画像解析エンジン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深層学習（CNN/Vision Transformer）を活用した損傷自動検出。0.1mm精度で検出し、損傷種別・グレードを自動判定。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✓  ひび割れ幅の自動計測（0.1mm単位）</a:t>
            </a:r>
            <a:br/>
            <a:r>
              <a:t>✓  損傷種別の自動分類（13カテゴリ）</a:t>
            </a:r>
            <a:br/>
            <a:r>
              <a:t>✓  経年変化の自動比較・進行度分析</a:t>
            </a:r>
            <a:br/>
            <a:r>
              <a:t>✓  調書の自動生成（国交省様式準拠）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20240"/>
            <a:ext cx="347472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2194560"/>
            <a:ext cx="548640" cy="54864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2128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Noto Sans JP"/>
              </a:defRPr>
            </a:pPr>
            <a: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65D"/>
                </a:solidFill>
                <a:latin typeface="Noto Sans JP"/>
              </a:defRPr>
            </a:pPr>
            <a:r>
              <a:t>IoTセンシング基盤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2918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振動・傾斜・温湿度・ひずみの各種センサーで構造物の健全性をリアルタイム常時監視。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✓  MEMS加速度センサーによる振動モニタリング</a:t>
            </a:r>
            <a:br/>
            <a:r>
              <a:t>✓  傾斜計による変位の長期監視</a:t>
            </a:r>
            <a:br/>
            <a:r>
              <a:t>✓  LoRaWAN/LTE-M対応の低消費電力通信</a:t>
            </a:r>
            <a:br/>
            <a:r>
              <a:t>✓  ソーラーパネル駆動による自立運用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9202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920240"/>
            <a:ext cx="3474720" cy="508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2194560"/>
            <a:ext cx="548640" cy="5486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2128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Noto Sans JP"/>
              </a:defRPr>
            </a:pPr>
            <a:r>
              <a:t>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65D"/>
                </a:solidFill>
                <a:latin typeface="Noto Sans JP"/>
              </a:defRPr>
            </a:pPr>
            <a:r>
              <a:t>統合管理クラウド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918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全橋梁の点検・センサー・画像データを一元管理。GISマップ上でのビジュアル管理。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✓  GISベースの橋梁台帳・マップ管理</a:t>
            </a:r>
            <a:br/>
            <a:r>
              <a:t>✓  リアルタイムダッシュボード</a:t>
            </a:r>
            <a:br/>
            <a:r>
              <a:t>✓  劣化予測シミュレーション</a:t>
            </a:r>
            <a:br/>
            <a:r>
              <a:t>✓  修繕優先度の自動ランキング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B6CB0"/>
                </a:solidFill>
                <a:latin typeface="Arial"/>
              </a:defRPr>
            </a:pPr>
            <a:r>
              <a:t>04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365D"/>
                </a:solidFill>
                <a:latin typeface="Noto Sans JP"/>
              </a:defRPr>
            </a:pPr>
            <a:r>
              <a:t>システム構成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463040"/>
            <a:ext cx="960120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B6CB0"/>
                </a:solidFill>
                <a:latin typeface="Arial"/>
              </a:defRPr>
            </a:pPr>
            <a:r>
              <a:t>DATA 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10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ドローン撮影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1810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IoTセンサー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10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タブレット入力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10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既存台帳データ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718096"/>
                </a:solidFill>
                <a:latin typeface="Noto Sans JP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606040"/>
            <a:ext cx="960120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B6CB0"/>
                </a:solidFill>
                <a:latin typeface="Arial"/>
              </a:defRPr>
            </a:pPr>
            <a:r>
              <a:t>EDGE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2953512"/>
            <a:ext cx="201168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エッジAI推論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40" y="2953512"/>
            <a:ext cx="201168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画像前処理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953512"/>
            <a:ext cx="201168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データ圧縮・送信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718096"/>
                </a:solidFill>
                <a:latin typeface="Noto Sans JP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3749040"/>
            <a:ext cx="960120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B6CB0"/>
                </a:solidFill>
                <a:latin typeface="Arial"/>
              </a:defRPr>
            </a:pPr>
            <a:r>
              <a:t>CLOUD 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4096512"/>
            <a:ext cx="2011680" cy="36576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AI解析エンジン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40" y="4096512"/>
            <a:ext cx="2011680" cy="36576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データベース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096512"/>
            <a:ext cx="2011680" cy="36576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GISエンジン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096512"/>
            <a:ext cx="2011680" cy="36576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API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718096"/>
                </a:solidFill>
                <a:latin typeface="Noto Sans JP"/>
              </a:defRPr>
            </a:pPr>
            <a: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892040"/>
            <a:ext cx="960120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873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B6CB0"/>
                </a:solidFill>
                <a:latin typeface="Arial"/>
              </a:defRPr>
            </a:pPr>
            <a:r>
              <a:t>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5239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管理ダッシュボード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40" y="5239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現場タブレットアプリ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5239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調書自動生成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239512"/>
            <a:ext cx="20116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外部連携API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126480"/>
            <a:ext cx="10698480" cy="9144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6126480"/>
            <a:ext cx="50800" cy="914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6217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セキュリティ・準拠規格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5379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ISO 27001準拠 | ISMAP認定クラウド | AES-256暗号化 | 多要素認証 | 監査ログ完備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B6CB0"/>
                </a:solidFill>
                <a:latin typeface="Arial"/>
              </a:defRPr>
            </a:pPr>
            <a:r>
              <a:t>05 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365D"/>
                </a:solidFill>
                <a:latin typeface="Noto Sans JP"/>
              </a:defRPr>
            </a:pPr>
            <a:r>
              <a:t>主要機能詳細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BED4ED"/>
                </a:solidFill>
                <a:latin typeface="Arial"/>
              </a:defRPr>
            </a:pPr>
            <a:r>
              <a:t>STEP</a:t>
            </a:r>
          </a:p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2286000"/>
            <a:ext cx="254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A365D"/>
                </a:solidFill>
                <a:latin typeface="Noto Sans JP"/>
              </a:defRPr>
            </a:pPr>
            <a:r>
              <a:t>ドローン自動飛行・撮影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3Dモデルに基づく飛行経路の自動生成。橋梁形状に最適化された撮影角度・距離をAIが自動計算。1橋あたり約30分で撮影完了。RTK-GPS対応によりセンチメートル精度の位置情報を付与。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731520" cy="73152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BED4ED"/>
                </a:solidFill>
                <a:latin typeface="Arial"/>
              </a:defRPr>
            </a:pPr>
            <a:r>
              <a:t>STEP</a:t>
            </a:r>
          </a:p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3566160"/>
            <a:ext cx="254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A365D"/>
                </a:solidFill>
                <a:latin typeface="Noto Sans JP"/>
              </a:defRPr>
            </a:pPr>
            <a:r>
              <a:t>AI自動解析・損傷検出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0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撮影画像をクラウドへアップロード後、AI解析エンジンが自動で損傷箇所を検出。13種類の損傷を自動分類。信頼度スコアを付与し、閾値以下は人間のレビュー対象としてフラグ付け。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114800"/>
            <a:ext cx="731520" cy="73152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BED4ED"/>
                </a:solidFill>
                <a:latin typeface="Arial"/>
              </a:defRPr>
            </a:pPr>
            <a:r>
              <a:t>STEP</a:t>
            </a:r>
          </a:p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4846320"/>
            <a:ext cx="254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A365D"/>
                </a:solidFill>
                <a:latin typeface="Noto Sans JP"/>
              </a:defRPr>
            </a:pPr>
            <a:r>
              <a:t>デジタル調書自動生成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80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国土交通省の定期点検要領に準拠した調書を自動生成。損傷図・写真台帳・所見文・判定区分をAIが作成。調書作成工数を従来比80%削減。Excel/PDF出力対応。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394960"/>
            <a:ext cx="731520" cy="73152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BED4ED"/>
                </a:solidFill>
                <a:latin typeface="Arial"/>
              </a:defRPr>
            </a:pPr>
            <a:r>
              <a:t>STEP</a:t>
            </a:r>
          </a:p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A365D"/>
                </a:solidFill>
                <a:latin typeface="Noto Sans JP"/>
              </a:defRPr>
            </a:pPr>
            <a:r>
              <a:t>劣化予測・修繕計画支援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760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蓄積された点検データとセンサーデータをもとに、機械学習モデルが劣化進行を予測。LCC最適化の観点から修繕優先度を自動ランキングし、中長期修繕計画の策定を支援。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C8181"/>
                </a:solidFill>
                <a:latin typeface="Arial"/>
              </a:defRPr>
            </a:pPr>
            <a:r>
              <a:t>06 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従来手法との比較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337560"/>
                <a:gridCol w="333756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比較項目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従来手法（目視点検）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本システム（AI+IoT）</a:t>
                      </a:r>
                    </a:p>
                  </a:txBody>
                  <a:tcPr>
                    <a:solidFill>
                      <a:srgbClr val="E53E3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点検所要時間（1橋あたり）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2〜3日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0.5〜1日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足場・規制の要否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必要（大規模）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原則不要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損傷検出精度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点検員依存（70〜90%）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95%以上（一定品質）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調書作成時間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3〜5日/橋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数時間（自動生成）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データ蓄積・活用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紙ベース（検索困難）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クラウドDB（即時検索）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劣化予測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経験則に依存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AI予測モデル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常時監視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不可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IoTセンサーで24/7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202C"/>
                          </a:solidFill>
                          <a:latin typeface="Noto Sans JP"/>
                        </a:defRPr>
                      </a:pPr>
                      <a:r>
                        <a:t>コスト（年間/橋）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5568"/>
                          </a:solidFill>
                          <a:latin typeface="Noto Sans JP"/>
                        </a:defRPr>
                      </a:pPr>
                      <a:r>
                        <a:t>約150〜250万円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53E3E"/>
                          </a:solidFill>
                          <a:latin typeface="Noto Sans JP"/>
                        </a:defRPr>
                      </a:pPr>
                      <a:r>
                        <a:t>約90〜150万円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B6CB0"/>
                </a:solidFill>
                <a:latin typeface="Arial"/>
              </a:defRPr>
            </a:pPr>
            <a:r>
              <a:t>07  Implementation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365D"/>
                </a:solidFill>
                <a:latin typeface="Noto Sans JP"/>
              </a:defRPr>
            </a:pPr>
            <a:r>
              <a:t>導入スケジュール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JP"/>
              </a:defRPr>
            </a:pPr>
            <a:r>
              <a:t>PoC（概念実証）からフル導入まで、約12ヶ月の段階的導入計画をご提案します。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286000" cy="5943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JP"/>
              </a:defRPr>
            </a:pPr>
            <a:r>
              <a:t>フェーズ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920240"/>
            <a:ext cx="1508760" cy="5943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M1-2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920240"/>
            <a:ext cx="1508760" cy="5943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M3-4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1508760" cy="5943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M5-6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1920240"/>
            <a:ext cx="1508760" cy="5943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M7-8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920240"/>
            <a:ext cx="1508760" cy="5943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M9-10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1920240"/>
            <a:ext cx="1508760" cy="5943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M11-12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2286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A202C"/>
                </a:solidFill>
                <a:latin typeface="Noto Sans JP"/>
              </a:defRPr>
            </a:pPr>
            <a:r>
              <a:t>Phase 1: PoC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56032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256032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56032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80" y="256032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256032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835640" y="256032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4680" y="2697480"/>
            <a:ext cx="1325880" cy="3200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Noto Sans JP"/>
              </a:defRPr>
            </a:pPr>
            <a:r>
              <a:t>PoC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697480"/>
            <a:ext cx="1325880" cy="3200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Noto Sans JP"/>
              </a:defRPr>
            </a:pPr>
            <a:r>
              <a:t>評価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400"/>
            <a:ext cx="2286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A202C"/>
                </a:solidFill>
                <a:latin typeface="Noto Sans JP"/>
              </a:defRPr>
            </a:pPr>
            <a:r>
              <a:t>Phase 2: 開発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20040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320040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320040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80" y="320040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320040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835640" y="320040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3337560"/>
            <a:ext cx="1325880" cy="32004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Noto Sans JP"/>
              </a:defRPr>
            </a:pPr>
            <a:r>
              <a:t>設計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337560"/>
            <a:ext cx="1325880" cy="32004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Noto Sans JP"/>
              </a:defRPr>
            </a:pPr>
            <a:r>
              <a:t>開発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840480"/>
            <a:ext cx="2286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A202C"/>
                </a:solidFill>
                <a:latin typeface="Noto Sans JP"/>
              </a:defRPr>
            </a:pPr>
            <a:r>
              <a:t>Phase 3: パイロット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384048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17720" y="384048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72200" y="384048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80" y="384048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81160" y="384048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835640" y="384048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72600" y="3977640"/>
            <a:ext cx="1325880" cy="3200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Noto Sans JP"/>
              </a:defRPr>
            </a:pPr>
            <a:r>
              <a:t>試験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480560"/>
            <a:ext cx="2286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A202C"/>
                </a:solidFill>
                <a:latin typeface="Noto Sans JP"/>
              </a:defRPr>
            </a:pPr>
            <a:r>
              <a:t>Phase 4: 本番展開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448056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17720" y="448056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72200" y="448056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26680" y="448056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81160" y="448056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835640" y="4480560"/>
            <a:ext cx="15087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927080" y="4617720"/>
            <a:ext cx="1325880" cy="3200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Noto Sans JP"/>
              </a:defRPr>
            </a:pPr>
            <a:r>
              <a:t>展開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1206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2578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365D"/>
                </a:solidFill>
                <a:latin typeface="Noto Sans JP"/>
              </a:defRPr>
            </a:pPr>
            <a:r>
              <a:t>Phase 1: PoC（2ヶ月）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4A5568"/>
                </a:solidFill>
                <a:latin typeface="Noto Sans JP"/>
              </a:defRPr>
            </a:pPr>
            <a:r>
              <a:t>対象橋梁3〜5橋でドローン撮影・AI解析の精度検証。既存点検結果との比較評価。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0" y="51206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52578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365D"/>
                </a:solidFill>
                <a:latin typeface="Noto Sans JP"/>
              </a:defRPr>
            </a:pPr>
            <a:r>
              <a:t>Phase 2: システム開発（4ヶ月）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4A5568"/>
                </a:solidFill>
                <a:latin typeface="Noto Sans JP"/>
              </a:defRPr>
            </a:pPr>
            <a:r>
              <a:t>PoC結果を踏まえたカスタマイズ開発。管理画面・調書生成・IoT連携の構築。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51206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2578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365D"/>
                </a:solidFill>
                <a:latin typeface="Noto Sans JP"/>
              </a:defRPr>
            </a:pPr>
            <a:r>
              <a:t>Phase 3: パイロット運用（2ヶ月）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4A5568"/>
                </a:solidFill>
                <a:latin typeface="Noto Sans JP"/>
              </a:defRPr>
            </a:pPr>
            <a:r>
              <a:t>20〜30橋を対象とした実運用テスト。現場オペレーション確立・操作研修実施。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23960" y="51206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52578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365D"/>
                </a:solidFill>
                <a:latin typeface="Noto Sans JP"/>
              </a:defRPr>
            </a:pPr>
            <a:r>
              <a:t>Phase 4: 本番展開（2ヶ月）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4A5568"/>
                </a:solidFill>
                <a:latin typeface="Noto Sans JP"/>
              </a:defRPr>
            </a:pPr>
            <a:r>
              <a:t>全対象橋梁への展開。運用マニュアル整備・保守サポート体制の確立。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B6CB0"/>
                </a:solidFill>
                <a:latin typeface="Arial"/>
              </a:defRPr>
            </a:pPr>
            <a:r>
              <a:t>08 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365D"/>
                </a:solidFill>
                <a:latin typeface="Noto Sans JP"/>
              </a:defRPr>
            </a:pPr>
            <a:r>
              <a:t>概算費用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10972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ED4ED"/>
                </a:solidFill>
                <a:latin typeface="Noto Sans JP"/>
              </a:defRPr>
            </a:pPr>
            <a:r>
              <a:t>システム導入 概算総額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¥48,500,000（税別）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202C"/>
                </a:solidFill>
                <a:latin typeface="Noto Sans JP"/>
              </a:defRPr>
            </a:pPr>
            <a:r>
              <a:t>Phase 1: PoC（概念実証）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¥3,500,000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081528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202C"/>
                </a:solidFill>
                <a:latin typeface="Noto Sans JP"/>
              </a:defRPr>
            </a:pPr>
            <a:r>
              <a:t>Phase 2: システム設計・開発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¥22,000,000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538728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202C"/>
                </a:solidFill>
                <a:latin typeface="Noto Sans JP"/>
              </a:defRPr>
            </a:pPr>
            <a:r>
              <a:t>Phase 3: パイロット運用・調整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611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¥8,000,000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995928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202C"/>
                </a:solidFill>
                <a:latin typeface="Noto Sans JP"/>
              </a:defRPr>
            </a:pPr>
            <a:r>
              <a:t>Phase 4: 本番展開・研修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069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¥9,000,000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453128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202C"/>
                </a:solidFill>
                <a:latin typeface="Noto Sans JP"/>
              </a:defRPr>
            </a:pPr>
            <a:r>
              <a:t>IoTセンサー機器一式（50橋分）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¥6,000,000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37160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65D"/>
                </a:solidFill>
                <a:latin typeface="Noto Sans JP"/>
              </a:defRPr>
            </a:pPr>
            <a:r>
              <a:t>ランニングコスト（年額）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202C"/>
                </a:solidFill>
                <a:latin typeface="Noto Sans JP"/>
              </a:defRPr>
            </a:pPr>
            <a:r>
              <a:t>クラウド利用料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365D"/>
                </a:solidFill>
                <a:latin typeface="Arial"/>
              </a:defRPr>
            </a:pPr>
            <a:r>
              <a:t>¥3,600,000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359152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202C"/>
                </a:solidFill>
                <a:latin typeface="Noto Sans JP"/>
              </a:defRPr>
            </a:pPr>
            <a:r>
              <a:t>保守・サポート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365D"/>
                </a:solidFill>
                <a:latin typeface="Arial"/>
              </a:defRPr>
            </a:pPr>
            <a:r>
              <a:t>¥2,400,000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2770632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202C"/>
                </a:solidFill>
                <a:latin typeface="Noto Sans JP"/>
              </a:defRPr>
            </a:pPr>
            <a:r>
              <a:t>AIモデル更新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365D"/>
                </a:solidFill>
                <a:latin typeface="Arial"/>
              </a:defRPr>
            </a:pPr>
            <a:r>
              <a:t>¥1,800,000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182112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A202C"/>
                </a:solidFill>
                <a:latin typeface="Noto Sans JP"/>
              </a:defRPr>
            </a:pPr>
            <a:r>
              <a:t>IoT通信費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365D"/>
                </a:solidFill>
                <a:latin typeface="Arial"/>
              </a:defRPr>
            </a:pPr>
            <a:r>
              <a:t>¥600,000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593592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合計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E53E3E"/>
                </a:solidFill>
                <a:latin typeface="Arial"/>
              </a:defRPr>
            </a:pPr>
            <a:r>
              <a:t>¥8,400,000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120640"/>
            <a:ext cx="5303520" cy="12801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5120640"/>
            <a:ext cx="50800" cy="12801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5212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投資回収シミュレーション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5321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  <a:defRPr sz="1000" b="0">
                <a:solidFill>
                  <a:srgbClr val="4A5568"/>
                </a:solidFill>
                <a:latin typeface="Noto Sans JP"/>
              </a:defRPr>
            </a:pPr>
            <a:r>
              <a:t>50橋の年間点検費用を従来比40%削減 → 年間約3,000万円の削減効果。初期投資は約1.5〜2年で回収可能。10年間で累計約2億円のコスト削減見込み。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B6CB0"/>
                </a:solidFill>
                <a:latin typeface="Arial"/>
              </a:defRPr>
            </a:pPr>
            <a:r>
              <a:t>09  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365D"/>
                </a:solidFill>
                <a:latin typeface="Noto Sans JP"/>
              </a:defRPr>
            </a:pPr>
            <a:r>
              <a:t>プロジェクト体制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JP"/>
              </a:defRPr>
            </a:pPr>
            <a:r>
              <a:t>橋梁工学・AI・IoT・クラウドの各領域の専門家によるクロスファンクショナルチームで推進します。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945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プロジェクトマネージャー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全体統括・進捗管理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219456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3042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945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AIエンジニアリード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画像解析・モデル開発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9202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63640" y="219456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3042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1945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IoTアーキテクト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センサー設計・通信基盤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92024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219456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3042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バックエンドエンジニア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API・データベース開発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374904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8587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フロントエンドエンジニア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UI/UX・ダッシュボード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4747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66160" y="374904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8587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土木コンサルタント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橋梁工学・点検要領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4747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63640" y="374904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8587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ドローンオペレーター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飛行計画・撮影実施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34747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61120" y="3749040"/>
            <a:ext cx="594360" cy="594360"/>
          </a:xfrm>
          <a:prstGeom prst="ellipse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38587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365D"/>
                </a:solidFill>
                <a:latin typeface="Noto Sans JP"/>
              </a:defRPr>
            </a:pPr>
            <a:r>
              <a:t>品質管理・テスト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18096"/>
                </a:solidFill>
                <a:latin typeface="Noto Sans JP"/>
              </a:defRPr>
            </a:pPr>
            <a:r>
              <a:t>検証・受入試験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5120640"/>
            <a:ext cx="50800" cy="12801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52120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365D"/>
                </a:solidFill>
                <a:latin typeface="Noto Sans JP"/>
              </a:defRPr>
            </a:pPr>
            <a:r>
              <a:t>伴走型支援体制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5778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0"/>
              </a:spcAft>
              <a:defRPr sz="1100" b="0">
                <a:solidFill>
                  <a:srgbClr val="4A5568"/>
                </a:solidFill>
                <a:latin typeface="Noto Sans JP"/>
              </a:defRPr>
            </a:pPr>
            <a:r>
              <a:t>導入後も専任のカスタマーサクセスチームが週1回常駐し、運用定着・活用推進を支援します。月次での効果測定レポート提出と改善提案を実施し、システムの継続的な価値向上に努めます。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C8181"/>
                </a:solidFill>
                <a:latin typeface="Arial"/>
              </a:defRPr>
            </a:pPr>
            <a:r>
              <a:t>10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今後のステップ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320040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30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JP"/>
              </a:defRPr>
            </a:pPr>
            <a:r>
              <a:t>ご質疑・ご要望ヒアリング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200" b="0">
                <a:solidFill>
                  <a:srgbClr val="BED4ED"/>
                </a:solidFill>
                <a:latin typeface="Noto Sans JP"/>
              </a:defRPr>
            </a:pPr>
            <a:r>
              <a:t>本提案に対するご質問・ご要望をお聞かせください。</a:t>
            </a:r>
            <a:br/>
            <a:r>
              <a:t>貴社の具体的な課題やご要件に合わせて提案を調整いたします。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474720" cy="320040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60" y="1645920"/>
            <a:ext cx="640080" cy="640080"/>
          </a:xfrm>
          <a:prstGeom prst="ellipse">
            <a:avLst/>
          </a:prstGeom>
          <a:solidFill>
            <a:srgbClr val="30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190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JP"/>
              </a:defRPr>
            </a:pPr>
            <a:r>
              <a:t>現地調査・PoC計画策定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200" b="0">
                <a:solidFill>
                  <a:srgbClr val="BED4ED"/>
                </a:solidFill>
                <a:latin typeface="Noto Sans JP"/>
              </a:defRPr>
            </a:pPr>
            <a:r>
              <a:t>対象橋梁の現地調査を実施し、PoCの具体的な</a:t>
            </a:r>
            <a:br/>
            <a:r>
              <a:t>実施計画（対象橋梁・スケジュール・評価基準）を策定します。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3200400"/>
          </a:xfrm>
          <a:prstGeom prst="roundRect">
            <a:avLst/>
          </a:prstGeom>
          <a:solidFill>
            <a:srgbClr val="1F3D6A"/>
          </a:solidFill>
          <a:ln w="12700">
            <a:solidFill>
              <a:srgbClr val="305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1645920"/>
            <a:ext cx="640080" cy="640080"/>
          </a:xfrm>
          <a:prstGeom prst="ellipse">
            <a:avLst/>
          </a:prstGeom>
          <a:solidFill>
            <a:srgbClr val="30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190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JP"/>
              </a:defRPr>
            </a:pPr>
            <a:r>
              <a:t>PoC実施・効果検証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200" b="0">
                <a:solidFill>
                  <a:srgbClr val="BED4ED"/>
                </a:solidFill>
                <a:latin typeface="Noto Sans JP"/>
              </a:defRPr>
            </a:pPr>
            <a:r>
              <a:t>3〜5橋を対象にPoCを実施。AI解析精度・工数削減効果・</a:t>
            </a:r>
            <a:br/>
            <a:r>
              <a:t>ユーザビリティを定量的に評価し、本導入判断の材料をご提供します。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365D"/>
              </a:gs>
              <a:gs pos="100000">
                <a:srgbClr val="2B6CB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FFFFFF"/>
                </a:solidFill>
                <a:latin typeface="Noto Sans JP"/>
              </a:defRPr>
            </a:pPr>
            <a:r>
              <a:t>橋梁点検の未来を、共に創りませんか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0175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500" b="0">
                <a:solidFill>
                  <a:srgbClr val="BED4ED"/>
                </a:solidFill>
                <a:latin typeface="Noto Sans JP"/>
              </a:defRPr>
            </a:pPr>
            <a:r>
              <a:t>フレックスデザイン社の技術力と私たちのAI・IoTソリューションを掛け合わせ、</a:t>
            </a:r>
            <a:br/>
            <a:r>
              <a:t>インフラ維持管理の新たなスタンダードを確立しましょう。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297680"/>
            <a:ext cx="3657600" cy="64008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oto Sans JP"/>
              </a:defRPr>
            </a:pPr>
            <a:r>
              <a:t>お問い合わせ・ご相談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8AA5C2"/>
                </a:solidFill>
                <a:latin typeface="Noto Sans JP"/>
              </a:defRPr>
            </a:pPr>
            <a:r>
              <a:t>本資料はフレックスデザイン社向けに作成された機密文書です。無断複製・転載を禁じます。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350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8AA5C2"/>
                </a:solidFill>
                <a:latin typeface="Arial"/>
              </a:defRPr>
            </a:pPr>
            <a:r>
              <a:t>© 2026 All Rights Reserved.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